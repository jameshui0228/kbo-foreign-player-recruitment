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e8b7936e184e3b" /><Relationship Type="http://schemas.openxmlformats.org/officeDocument/2006/relationships/extended-properties" Target="/docProps/app.xml" Id="R309fa50cd0f6486d" /><Relationship Type="http://schemas.openxmlformats.org/officeDocument/2006/relationships/officeDocument" Target="/ppt/presentation.xml" Id="Rd83c7549290e49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8d003bd86044da"/>
  </p:sldMasterIdLst>
  <p:notesMasterIdLst>
    <p:notesMasterId xmlns:r="http://schemas.openxmlformats.org/officeDocument/2006/relationships" r:id="R916ad402652a4484"/>
  </p:notesMasterIdLst>
  <p:sldIdLst>
    <p:sldId xmlns:r="http://schemas.openxmlformats.org/officeDocument/2006/relationships" id="256" r:id="Rfaa67f4935084427"/>
    <p:sldId xmlns:r="http://schemas.openxmlformats.org/officeDocument/2006/relationships" id="257" r:id="R6456bf6c88114267"/>
    <p:sldId xmlns:r="http://schemas.openxmlformats.org/officeDocument/2006/relationships" id="258" r:id="R1ab7fb443cda4038"/>
    <p:sldId xmlns:r="http://schemas.openxmlformats.org/officeDocument/2006/relationships" id="259" r:id="R90a8d37f71034319"/>
    <p:sldId xmlns:r="http://schemas.openxmlformats.org/officeDocument/2006/relationships" id="260" r:id="R78c1e5780ea248ab"/>
    <p:sldId xmlns:r="http://schemas.openxmlformats.org/officeDocument/2006/relationships" id="261" r:id="R8f1a48a6cdbf4b8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3ca233ac7d4d85" /><Relationship Type="http://schemas.openxmlformats.org/officeDocument/2006/relationships/slideMaster" Target="/ppt/slideMasters/slideMaster1.xml" Id="R008d003bd86044da" /><Relationship Type="http://schemas.openxmlformats.org/officeDocument/2006/relationships/notesMaster" Target="/ppt/notesMasters/notesMaster1.xml" Id="R916ad402652a4484" /><Relationship Type="http://schemas.openxmlformats.org/officeDocument/2006/relationships/presProps" Target="/ppt/presProps.xml" Id="R7bdb685eaefe41be" /><Relationship Type="http://schemas.openxmlformats.org/officeDocument/2006/relationships/tableStyles" Target="/ppt/tableStyles.xml" Id="Rdfa822dc93a44eaf" /><Relationship Type="http://schemas.openxmlformats.org/officeDocument/2006/relationships/slide" Target="/ppt/slides/slide1.xml" Id="Rfaa67f4935084427" /><Relationship Type="http://schemas.openxmlformats.org/officeDocument/2006/relationships/slide" Target="/ppt/slides/slide2.xml" Id="R6456bf6c88114267" /><Relationship Type="http://schemas.openxmlformats.org/officeDocument/2006/relationships/slide" Target="/ppt/slides/slide3.xml" Id="R1ab7fb443cda4038" /><Relationship Type="http://schemas.openxmlformats.org/officeDocument/2006/relationships/slide" Target="/ppt/slides/slide4.xml" Id="R90a8d37f71034319" /><Relationship Type="http://schemas.openxmlformats.org/officeDocument/2006/relationships/slide" Target="/ppt/slides/slide5.xml" Id="R78c1e5780ea248ab" /><Relationship Type="http://schemas.openxmlformats.org/officeDocument/2006/relationships/slide" Target="/ppt/slides/slide6.xml" Id="R8f1a48a6cdbf4b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a76d319c3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5463515bc4df8" /><Relationship Type="http://schemas.openxmlformats.org/officeDocument/2006/relationships/notesMaster" Target="/ppt/notesMasters/notesMaster1.xml" Id="Rf8ef311ea933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ead0ef66aa4c98" /><Relationship Type="http://schemas.openxmlformats.org/officeDocument/2006/relationships/notesMaster" Target="/ppt/notesMasters/notesMaster1.xml" Id="Re76d5d7996424c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c9478197f4ca3" /><Relationship Type="http://schemas.openxmlformats.org/officeDocument/2006/relationships/notesMaster" Target="/ppt/notesMasters/notesMaster1.xml" Id="R4a211040c08841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f5af145b8643e9" /><Relationship Type="http://schemas.openxmlformats.org/officeDocument/2006/relationships/notesMaster" Target="/ppt/notesMasters/notesMaster1.xml" Id="R25a928075c8e4e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d16df483447c3" /><Relationship Type="http://schemas.openxmlformats.org/officeDocument/2006/relationships/notesMaster" Target="/ppt/notesMasters/notesMaster1.xml" Id="R40709613c0ff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577c546c5e44a6" /><Relationship Type="http://schemas.openxmlformats.org/officeDocument/2006/relationships/notesMaster" Target="/ppt/notesMasters/notesMaster1.xml" Id="R057dbd633b22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3a7ea853248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8f2ea00443438f" /><Relationship Type="http://schemas.openxmlformats.org/officeDocument/2006/relationships/slideLayout" Target="/ppt/slideLayouts/slideLayout1.xml" Id="Rfc1cc7a658c1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1cc7a658c1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778d1e2194311" /><Relationship Type="http://schemas.openxmlformats.org/officeDocument/2006/relationships/notesSlide" Target="/ppt/notesSlides/notesSlide1.xml" Id="Rbf0d978dd1c8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466664a14bb4" /><Relationship Type="http://schemas.openxmlformats.org/officeDocument/2006/relationships/notesSlide" Target="/ppt/notesSlides/notesSlide2.xml" Id="R5a4bf0a1595a4d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3e517913e48ed" /><Relationship Type="http://schemas.openxmlformats.org/officeDocument/2006/relationships/notesSlide" Target="/ppt/notesSlides/notesSlide3.xml" Id="Red27f2c8b6ba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7e6b4335a4db5" /><Relationship Type="http://schemas.openxmlformats.org/officeDocument/2006/relationships/notesSlide" Target="/ppt/notesSlides/notesSlide4.xml" Id="R755cf818ec5c45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a00615709498e" /><Relationship Type="http://schemas.openxmlformats.org/officeDocument/2006/relationships/notesSlide" Target="/ppt/notesSlides/notesSlide5.xml" Id="Rc40a24950044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627bc9c454bed" /><Relationship Type="http://schemas.openxmlformats.org/officeDocument/2006/relationships/notesSlide" Target="/ppt/notesSlides/notesSlide6.xml" Id="Raf59c43d2f474b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403A52-F5E1-4395-9606-759E1E4B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2321"/>
                </a:solidFill>
              </a:defRPr>
            </a:pPr>
            <a:r>
              <a:rPr sz="3300" b="1">
                <a:solidFill>
                  <a:srgbClr val="262321"/>
                </a:solidFill>
              </a:rPr>
              <a:t>모델 상세 1: A/B/C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20F39-94A2-4B63-8113-F6B8A33D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52476-19B7-4C40-ADD8-EF71350E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162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35F"/>
                </a:solidFill>
              </a:defRPr>
            </a:pPr>
            <a:r>
              <a:rPr sz="1650" b="0">
                <a:solidFill>
                  <a:srgbClr val="66635F"/>
                </a:solidFill>
              </a:rPr>
              <a:t>SSG 약점 정의 → 과거 KBO 성공/실패 학습 → 역할 유사도 매칭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06856-F07A-419F-AD81-C2AD3B24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400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99D2B-C740-4597-BA13-76301ABF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C0E1A"/>
                </a:solidFill>
              </a:defRPr>
            </a:pPr>
            <a:r>
              <a:rPr sz="2550" b="1">
                <a:solidFill>
                  <a:srgbClr val="8C0E1A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5F77E-ACB5-4BA9-BA61-35F40C92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2321"/>
                </a:solidFill>
              </a:defRPr>
            </a:pPr>
            <a:r>
              <a:rPr sz="1875" b="1">
                <a:solidFill>
                  <a:srgbClr val="262321"/>
                </a:solidFill>
              </a:rPr>
              <a:t>Team Need Mining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D2CD5-D70D-48E3-B88B-48BC6FC3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752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질문: SSG는 어떤 경기 조건에서 평균 득실과 승률이 급격히 나빠지는가?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입력: KBO/STATIZ 2023-2026 SSG 상황별 성과, 상대 선발 유형, 주자 상황, 득실, 선발 이닝, 불펜 부담.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방법: 단순 순위표가 아니라 game-state interaction을 조합해 hidden weakness rule을 mining.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발견: RHP game-script lock(-5.10), RHP OF/DH run-kill(-5.11), extra-out high OF void(-4.50), top-opponent short start(-5.83).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출력: 타자=이닝 전환형 OF/DH, 투수=traffic-command starter feature contract.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BDE51-217B-4B83-9445-BC72CC3E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81250"/>
            <a:ext cx="4400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04CA5-6D0F-4F43-91D3-7E1E1FB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C0E1A"/>
                </a:solidFill>
              </a:defRPr>
            </a:pPr>
            <a:r>
              <a:rPr sz="2550" b="1">
                <a:solidFill>
                  <a:srgbClr val="8C0E1A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876B2-D84E-4A16-8A00-0DFAF1E9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2321"/>
                </a:solidFill>
              </a:defRPr>
            </a:pPr>
            <a:r>
              <a:rPr sz="1875" b="1">
                <a:solidFill>
                  <a:srgbClr val="262321"/>
                </a:solidFill>
              </a:rPr>
              <a:t>KBO History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F3843-0432-4B09-ADCA-C0EBCB82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3752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질문: 후보는 과거 KBO 성공 외국인 선수와 닮았는가, 혹은 실패 패턴을 가졌는가?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입력: 과거 KBO 외국인 선수의 pre-KBO Savant/MiLB feature. KBO 입단 후 성과는 label/사후 검증에만 사용.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모델: 타자 Ridge Logistic Regression success/failure classifier. 투수 Sparse/L1 diagnostic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성능: 타자 success AUC 0.833, failure AUC 0.738. 투수 AUC 0.603.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사용: 타자는 high signal, 투수는 확정 추천이 아닌 diagnostic 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E2292-B579-4643-B740-AA3806E5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4400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AE439-4F42-429E-B66A-87A75012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C0E1A"/>
                </a:solidFill>
              </a:defRPr>
            </a:pPr>
            <a:r>
              <a:rPr sz="2550" b="1">
                <a:solidFill>
                  <a:srgbClr val="8C0E1A"/>
                </a:solidFill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E4046-1C64-4CB3-95D0-2E722839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67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2321"/>
                </a:solidFill>
              </a:defRPr>
            </a:pPr>
            <a:r>
              <a:rPr sz="1875" b="1">
                <a:solidFill>
                  <a:srgbClr val="262321"/>
                </a:solidFill>
              </a:rPr>
              <a:t>Archetype Matching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FEA34-62CC-4E41-8856-59A5F6BD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19450"/>
            <a:ext cx="3752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질문: 이 선수는 어떤 유형이며, SSG 필요 역할과 얼마나 닮았는가?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입력: 후보별 표준화 feature vector.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타자 vector: contact floor, on-base/damage, RHP fit, run-kill avoidance, role/market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투수 vector: command stability, damage control, starter floor, KBO/ABS translation, market/medical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방법: role similarity, archetype score, KBO 성공 유형/SSG 필요 유형과의 distance 비교.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유형: contact-floor OF/DH, RHP unlocker, traffic-command starter.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C90B8-D011-4B91-905F-75B3D54C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06755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0E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C9B4B-B589-4F4E-AA19-E980DDAF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2294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0E1A"/>
                </a:solidFill>
              </a:defRPr>
            </a:pPr>
            <a:r>
              <a:rPr sz="1575" b="1">
                <a:solidFill>
                  <a:srgbClr val="8C0E1A"/>
                </a:solidFill>
              </a:rPr>
              <a:t>핵심: A는 필요 유형을 정의하고, B는 성공/실패 신호를 학습하며, C는 후보가 그 역할과 얼마나 닮았는지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061646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7F684-482D-436C-B501-FEAA741A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2321"/>
                </a:solidFill>
              </a:defRPr>
            </a:pPr>
            <a:r>
              <a:rPr sz="3300" b="1">
                <a:solidFill>
                  <a:srgbClr val="262321"/>
                </a:solidFill>
              </a:rPr>
              <a:t>모델 상세 2: D/E/F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A1238-7281-4B81-A0F7-9B92AA3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16748-EAC0-4DF6-A2E1-CF5C3360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162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35F"/>
                </a:solidFill>
              </a:defRPr>
            </a:pPr>
            <a:r>
              <a:rPr sz="1650" b="0">
                <a:solidFill>
                  <a:srgbClr val="66635F"/>
                </a:solidFill>
              </a:rPr>
              <a:t>미국 성적의 KBO 번역 가능성, 시장 접근성, 의료·실행 리스크를 gate로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9B004-CEC2-4FAB-8FF5-909F65A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400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F245E-0C79-4770-AFCD-0D03FDBA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C73"/>
                </a:solidFill>
              </a:defRPr>
            </a:pPr>
            <a:r>
              <a:rPr sz="2550" b="1">
                <a:solidFill>
                  <a:srgbClr val="245C73"/>
                </a:solidFill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CFD73-64F1-4599-9EC9-45A00AB5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2321"/>
                </a:solidFill>
              </a:defRPr>
            </a:pPr>
            <a:r>
              <a:rPr sz="1875" b="1">
                <a:solidFill>
                  <a:srgbClr val="262321"/>
                </a:solidFill>
              </a:rPr>
              <a:t>KBO Translation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80D4E-3194-4E60-B55F-FD2FE255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752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질문: 미국 성적이 KBO에서도 유지될 수 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입력: MLB Savant 2023-2026, MiLB 성적, K%, chase, whiff, contact, ISO, xwOBA, BB9, HR9, starter continuity, third-time wOBA, GB%, zone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방법: feature family ablation + risk flagging + threshold-based translation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타자 위험: 과도한 K%, 높은 chase%, 낮은 contact, 변화구/저속 구종 약점, run-kill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투수 위험: 높은 BB9/HR9, 낮은 GB%, 선발 지속성 부족, ABS 환경 볼넷 증가.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3DAA1-0C97-4B44-B428-84522C1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81250"/>
            <a:ext cx="4400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799C6-D555-466E-A145-C54971F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C73"/>
                </a:solidFill>
              </a:defRPr>
            </a:pPr>
            <a:r>
              <a:rPr sz="2550" b="1">
                <a:solidFill>
                  <a:srgbClr val="245C73"/>
                </a:solidFill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EDBFB-B73D-4E16-97A9-17C98BE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2321"/>
                </a:solidFill>
              </a:defRPr>
            </a:pPr>
            <a:r>
              <a:rPr sz="1875" b="1">
                <a:solidFill>
                  <a:srgbClr val="262321"/>
                </a:solidFill>
              </a:rPr>
              <a:t>Market Feasibility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5B95E-CA59-4726-A874-D8A69647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3752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질문: 아무리 좋은 선수여도 실제로 데려올 수 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입력: roster/transaction, 40-man 포함 여부, DFA/outright, minor contract, salary signal, option status, 권리 상태.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방법: 점수 모델이 아니라 hard gate + market access bucket.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판정 예시: MLB active 40-man=접근성 낮음, DFA/outright 이후 40-man 밖=접근성 높음, minor/non-roster=검토 가능.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출력: available, conditional, blocked, contract verification needed, manual contact priority.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09183-9A83-4DAE-95A4-F2127BA0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81250"/>
            <a:ext cx="4400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C9A2F-1DD3-4B95-8C3C-06B55FA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47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5C73"/>
                </a:solidFill>
              </a:defRPr>
            </a:pPr>
            <a:r>
              <a:rPr sz="2550" b="1">
                <a:solidFill>
                  <a:srgbClr val="245C73"/>
                </a:solidFill>
              </a:rPr>
              <a:t>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5099E-7B14-499E-9D08-68FE215B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67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2321"/>
                </a:solidFill>
              </a:defRPr>
            </a:pPr>
            <a:r>
              <a:rPr sz="1875" b="1">
                <a:solidFill>
                  <a:srgbClr val="262321"/>
                </a:solidFill>
              </a:rPr>
              <a:t>Medical / Failure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16A85-8A97-4BCE-9570-199876D4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19450"/>
            <a:ext cx="3752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질문: 건강, 역할, 비용, 계약 측면에서 현실적인가?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입력: IL, surgery, workload, recent usage, velocity trend, role mismatch, medical public signal, salary/contract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방법: 최종 board에서 실행 불가능성을 걸러내는 hard gate/보류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출력: PASS(final 유지), YELLOW(conditional), HOLD(watch/medical hold), RED(최종 제외).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 b="0">
                <a:solidFill>
                  <a:srgbClr val="66635F"/>
                </a:solidFill>
              </a:defRPr>
            </a:pPr>
            <a:r>
              <a:rPr sz="1170" b="0">
                <a:solidFill>
                  <a:srgbClr val="66635F"/>
                </a:solidFill>
              </a:rPr>
              <a:t>예시: 점수 높아도 너무 젊고 MLB 가치가 높으면 HOLD. 최근 부상 이력이 크면 WATCH/RED. 선발 workload 부족 시 감점.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4210B-A943-4E37-9E69-14930763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067550"/>
            <a:ext cx="11277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C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50962-20C6-4001-ADAE-6B29C36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229475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5C73"/>
                </a:solidFill>
              </a:defRPr>
            </a:pPr>
            <a:r>
              <a:rPr sz="1575" b="1">
                <a:solidFill>
                  <a:srgbClr val="245C73"/>
                </a:solidFill>
              </a:rPr>
              <a:t>핵심: D는 KBO에서 통할 위험, E는 실제 접촉 가능성, F는 점수 상위 후보를 무조건 추천하지 않기 위한 방어 장치다.</a:t>
            </a:r>
          </a:p>
        </p:txBody>
      </p:sp>
    </p:spTree>
    <p:extLst>
      <p:ext uri="{BB962C8B-B14F-4D97-AF65-F5344CB8AC3E}">
        <p14:creationId xmlns:p14="http://schemas.microsoft.com/office/powerpoint/2010/main" val="1174347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4110B-D161-4B81-A313-FF375315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2321"/>
                </a:solidFill>
              </a:defRPr>
            </a:pPr>
            <a:r>
              <a:rPr sz="3300" b="1">
                <a:solidFill>
                  <a:srgbClr val="262321"/>
                </a:solidFill>
              </a:rPr>
              <a:t>앙상블 의사결정 로직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834F3-0494-47F7-8374-FB1689F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B6D05-6C76-454C-B0E1-2E0D9F31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162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35F"/>
                </a:solidFill>
              </a:defRPr>
            </a:pPr>
            <a:r>
              <a:rPr sz="1650" b="0">
                <a:solidFill>
                  <a:srgbClr val="66635F"/>
                </a:solidFill>
              </a:rPr>
              <a:t>단순 평균 점수표가 아니라 score model과 hard gate를 결합한 structured-only fit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5C004-4C5C-4C07-9D39-B31F3A9D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054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F97E3-908E-48D3-9E1C-D8F130A9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0E1A"/>
                </a:solidFill>
              </a:defRPr>
            </a:pPr>
            <a:r>
              <a:rPr sz="1875" b="1">
                <a:solidFill>
                  <a:srgbClr val="8C0E1A"/>
                </a:solidFill>
              </a:rPr>
              <a:t>Unified Fit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6DFA4-B195-4715-8BBB-B01596B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62321"/>
                </a:solidFill>
              </a:defRPr>
            </a:pPr>
            <a:r>
              <a:rPr sz="1350" b="0">
                <a:solidFill>
                  <a:srgbClr val="262321"/>
                </a:solidFill>
              </a:rPr>
              <a:t>weighted feature-block score</a:t>
            </a:r>
          </a:p>
          <a:p xmlns:a="http://schemas.openxmlformats.org/drawingml/2006/main">
            <a:pPr>
              <a:defRPr sz="1350" b="0">
                <a:solidFill>
                  <a:srgbClr val="262321"/>
                </a:solidFill>
              </a:defRPr>
            </a:pPr>
            <a:r>
              <a:rPr sz="1350" b="0">
                <a:solidFill>
                  <a:srgbClr val="262321"/>
                </a:solidFill>
              </a:rPr>
              <a:t>+ role/position adjustment</a:t>
            </a:r>
          </a:p>
          <a:p xmlns:a="http://schemas.openxmlformats.org/drawingml/2006/main">
            <a:pPr>
              <a:defRPr sz="1350" b="0">
                <a:solidFill>
                  <a:srgbClr val="262321"/>
                </a:solidFill>
              </a:defRPr>
            </a:pPr>
            <a:r>
              <a:rPr sz="1350" b="0">
                <a:solidFill>
                  <a:srgbClr val="262321"/>
                </a:solidFill>
              </a:rPr>
              <a:t>+ sample adjustment</a:t>
            </a:r>
          </a:p>
          <a:p xmlns:a="http://schemas.openxmlformats.org/drawingml/2006/main">
            <a:pPr>
              <a:defRPr sz="1350" b="0">
                <a:solidFill>
                  <a:srgbClr val="262321"/>
                </a:solidFill>
              </a:defRPr>
            </a:pPr>
            <a:r>
              <a:rPr sz="1350" b="0">
                <a:solidFill>
                  <a:srgbClr val="262321"/>
                </a:solidFill>
              </a:rPr>
              <a:t>+ age adjustment</a:t>
            </a:r>
          </a:p>
          <a:p xmlns:a="http://schemas.openxmlformats.org/drawingml/2006/main">
            <a:pPr>
              <a:defRPr sz="1350" b="0">
                <a:solidFill>
                  <a:srgbClr val="262321"/>
                </a:solidFill>
              </a:defRPr>
            </a:pPr>
            <a:r>
              <a:rPr sz="1350" b="0">
                <a:solidFill>
                  <a:srgbClr val="262321"/>
                </a:solidFill>
              </a:rPr>
              <a:t>- categorical risk penalty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0F041-312D-4676-B6C8-5E68A376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47900"/>
            <a:ext cx="4000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78AA7-7F06-4539-B66F-383EBB5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C0E1A"/>
                </a:solidFill>
              </a:defRPr>
            </a:pPr>
            <a:r>
              <a:rPr sz="1725" b="1">
                <a:solidFill>
                  <a:srgbClr val="8C0E1A"/>
                </a:solidFill>
              </a:rPr>
              <a:t>타자 모델 사용 강도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547FA-2720-4DB0-B410-C149C45F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Historical classifier를 가장 강한 base learner로 사용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success AUC 0.833 / failure AUC 0.738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Savant feature가 비교적 안정적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E5681-1B5E-41FA-A729-85D2035C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47900"/>
            <a:ext cx="4229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AFD0B-0C9B-43DA-AEB5-E48BE223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73"/>
                </a:solidFill>
              </a:defRPr>
            </a:pPr>
            <a:r>
              <a:rPr sz="1725" b="1">
                <a:solidFill>
                  <a:srgbClr val="245C73"/>
                </a:solidFill>
              </a:rPr>
              <a:t>투수 모델 사용 강도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1EF98-F622-4D78-A7FF-289B02E0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914650"/>
            <a:ext cx="3390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Classifier AUC 0.603으로 diagnostic만 사용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command, starter floor, damage control,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market/medical gate를 더 강하게 반영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0AA5D-457A-44B7-90FB-87B74223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5341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C6DD1-3E3D-41B6-833E-034E464F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53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65A6A-8D58-402C-A3FA-2E237C8D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91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262321"/>
                </a:solidFill>
              </a:defRPr>
            </a:pPr>
            <a:r>
              <a:rPr sz="1065" b="1">
                <a:solidFill>
                  <a:srgbClr val="262321"/>
                </a:solidFill>
              </a:rPr>
              <a:t>타자 모듈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14892-05AD-4A21-86D6-9E3E2289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050" y="4210050"/>
            <a:ext cx="697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262321"/>
                </a:solidFill>
              </a:defRPr>
            </a:pPr>
            <a:r>
              <a:rPr sz="1065" b="1">
                <a:solidFill>
                  <a:srgbClr val="262321"/>
                </a:solidFill>
              </a:rPr>
              <a:t>Weight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D52C1-3932-4EAF-8698-8B3C90D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490" y="4210050"/>
            <a:ext cx="24612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262321"/>
                </a:solidFill>
              </a:defRPr>
            </a:pPr>
            <a:r>
              <a:rPr sz="1065" b="1">
                <a:solidFill>
                  <a:srgbClr val="262321"/>
                </a:solidFill>
              </a:rPr>
              <a:t>근거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94406-098D-498A-A8E5-C1D70F9E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764D7-1973-4928-8317-22CD6CDF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Historical success/failure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A50B2-5807-4272-9A33-ECF4F136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850" y="4572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CBC87-B6AB-4237-96E1-66498802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050" y="46577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0.40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3F3A0-87ED-4493-9B82-6BA69436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4572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9EE28-E4EC-4D0E-9336-F807E90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490" y="46577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AUC promoted gate 통과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7C31E-A517-4ACF-A294-EBD820D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D3062-D6FD-4C92-AB54-26E3AE1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SSG fit + translation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0C33D-1A35-4CBB-A0A8-CB5E8C35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850" y="5029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3F223-57BE-4057-B07E-D2BC48D0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050" y="51149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82A4F-3DD2-472D-BD04-2FC24E28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5029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F3186E-E899-42F8-AF4E-0F45B1CC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490" y="51149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SSG 약점과 KBO 번역 동시 반영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5C63C-A8B9-4A36-BC89-5F96508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BF14A-B8C3-4C14-92D7-91BC7966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KBO adaptation filter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4E0439-A0C9-4784-AE2B-B4F963F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850" y="5486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EF5716-8BF7-47B6-BB02-93C78E37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050" y="55721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ED96B2-263C-41EC-BF50-2416EA51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5486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19812-9667-4259-BDF2-2F702F6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490" y="55721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변화구·저속 구종·좌/스위치 적합성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FD3BE-086D-4546-A693-75EFFCDB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42549F-8D85-4A8B-801A-62579AA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293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Market inefficiency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86BA0C-B540-4E40-B5B7-9EFF7A4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850" y="5943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C31480-BE0F-4EAF-87F3-EC69DF5D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050" y="60293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CB0E67-243D-43DA-84ED-700204DB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5943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5E9A54-AFB9-4026-B736-9C3F21C4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490" y="60293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AAA 장점과 MLB 결함의 translation gap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522C6C-61EA-42D8-80C4-9A7BF7D6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A655D2-68E8-435E-8F6C-5701A2BA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Cross-model consensus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BF22A0-F442-41AF-822D-F626B7F4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850" y="6400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AAC77E-F9EB-4BD1-ABE6-AC075CA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050" y="64865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9C6D61-1F82-4D63-8C35-AC8944C3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90" y="6400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CBBBAB-C641-49A8-862D-F20A16EA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490" y="64865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반복 등장 후보 안정성 보너스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9058C0-BF6C-4A2D-AE2E-383B657B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65341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F70DBD-F527-44B1-B0CF-B0BE26E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653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296A34-910B-4E62-AE9D-105EFB54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291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262321"/>
                </a:solidFill>
              </a:defRPr>
            </a:pPr>
            <a:r>
              <a:rPr sz="1065" b="1">
                <a:solidFill>
                  <a:srgbClr val="262321"/>
                </a:solidFill>
              </a:rPr>
              <a:t>투수 모듈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CDCF92-921A-483F-8318-13A8FB5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01" y="4210050"/>
            <a:ext cx="6970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262321"/>
                </a:solidFill>
              </a:defRPr>
            </a:pPr>
            <a:r>
              <a:rPr sz="1065" b="1">
                <a:solidFill>
                  <a:srgbClr val="262321"/>
                </a:solidFill>
              </a:rPr>
              <a:t>Weight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43A1A5-E58B-40B5-9EB7-5C333E6D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740" y="4210050"/>
            <a:ext cx="24612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262321"/>
                </a:solidFill>
              </a:defRPr>
            </a:pPr>
            <a:r>
              <a:rPr sz="1065" b="1">
                <a:solidFill>
                  <a:srgbClr val="262321"/>
                </a:solidFill>
              </a:rPr>
              <a:t>근거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7301BB-1FC8-4A06-AA4A-E567190B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E32E0D-885D-4E33-BD17-9D356EA0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Historical classifier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EA4B54-5864-433C-A46C-1B94A890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01" y="4572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88BD68-C2E9-43D9-8B5D-8E296075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01" y="46577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0.05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A23B77-1829-49E8-8C57-A10265A5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540" y="45720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73A5D4-C190-4BD1-B667-288F79D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740" y="46577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AUC 0.603, weak diagnostic only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438D39-DDF6-4F73-BD22-24A64F85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292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6E3DDE-0D2E-4704-A0DC-E9CA7AD5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SSG fit + translation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F70D1F-6912-4C30-A9F4-223C3DB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01" y="5029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3C4783-5E34-47CA-8719-64534F56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01" y="51149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0.25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FF159B-D8A8-435A-AAB6-DB9821E1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540" y="50292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815F2D-86BD-4443-9FAD-BB7A321F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740" y="51149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선발 이닝·KBO ERA 번역·영입 등급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8AC9F0-5DAB-4A79-BD4D-88CFAD38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756C2A-5A08-4799-ADBB-35BACBA7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721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KBO adaptation filter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CB42B6-A6B6-4CE6-9FD2-09885D17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01" y="5486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512854-90F6-45BF-AF58-494A64A7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01" y="55721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0.25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252113-C9F2-4B9E-9858-D9E2BC5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540" y="54864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6DE48C-BE5F-4938-9380-E253E02B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740" y="55721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BB/9, HR/9, third-time risk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24CA7C-CEDD-4547-A990-D73ECD0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436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C721D2A-8FDE-454C-A3C4-30DAD1A6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293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Market inefficiency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674888-D58E-4FB2-85B4-09AD5B5B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01" y="5943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5F32F5-A627-4B20-9739-36805C7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01" y="60293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098816-75BA-4F7F-A57A-EE065C20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540" y="59436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16F02D-DBD0-4EFF-8C65-BE9FD1B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740" y="60293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fringe starter 시장 탐색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0B800A-4FB0-4DA1-805A-DC33D21F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008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C7A231-0193-4E9F-B88F-FEBC3525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86525"/>
            <a:ext cx="291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1">
                <a:solidFill>
                  <a:srgbClr val="8C0E1A"/>
                </a:solidFill>
              </a:defRPr>
            </a:pPr>
            <a:r>
              <a:rPr sz="960" b="1">
                <a:solidFill>
                  <a:srgbClr val="8C0E1A"/>
                </a:solidFill>
              </a:rPr>
              <a:t>Cross-model consensus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33353D-1C30-4BF7-91A0-D57B0E9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01" y="6400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6F3746C-13BC-4E1E-9C00-B1305CC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7301" y="6486525"/>
            <a:ext cx="6970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0.25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15A628-9161-4058-AED0-3F2350CA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0540" y="64008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B1B0A0F-ED65-41EE-ABF2-024B83F1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6740" y="6486525"/>
            <a:ext cx="2461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262321"/>
                </a:solidFill>
              </a:defRPr>
            </a:pPr>
            <a:r>
              <a:rPr sz="960" b="0">
                <a:solidFill>
                  <a:srgbClr val="262321"/>
                </a:solidFill>
              </a:rPr>
              <a:t>독립 분석 반복 등장 중요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ADDF4A-B742-4601-810E-33AB6326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105650"/>
            <a:ext cx="1188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0E1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6D04C9-9A5A-4F8A-881E-EBFB79D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267575"/>
            <a:ext cx="1154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0E1A"/>
                </a:solidFill>
              </a:defRPr>
            </a:pPr>
            <a:r>
              <a:rPr sz="1575" b="1">
                <a:solidFill>
                  <a:srgbClr val="8C0E1A"/>
                </a:solidFill>
              </a:rPr>
              <a:t>Leakage 방지: KBO 입단 후 성과는 label/사후 검증에만 사용했고, 후보 feature에는 입단 전·현재 구조화 데이터만 사용했다.</a:t>
            </a:r>
          </a:p>
        </p:txBody>
      </p:sp>
    </p:spTree>
    <p:extLst>
      <p:ext uri="{BB962C8B-B14F-4D97-AF65-F5344CB8AC3E}">
        <p14:creationId xmlns:p14="http://schemas.microsoft.com/office/powerpoint/2010/main" val="1823787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14DB9-D38A-4AAB-96DF-EF90FCC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2321"/>
                </a:solidFill>
              </a:defRPr>
            </a:pPr>
            <a:r>
              <a:rPr sz="3300" b="1">
                <a:solidFill>
                  <a:srgbClr val="262321"/>
                </a:solidFill>
              </a:rPr>
              <a:t>Candidate Funnel: 넓게 만들고, 좁게 검증했다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1165C-372D-45E7-91E0-3525DC6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F0B10-942B-40B0-B148-EBF9CC88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162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35F"/>
                </a:solidFill>
              </a:defRPr>
            </a:pPr>
            <a:r>
              <a:rPr sz="1650" b="0">
                <a:solidFill>
                  <a:srgbClr val="66635F"/>
                </a:solidFill>
              </a:rPr>
              <a:t>Step 1~3은 후보를 줄이는 과정, Step 4~5는 후보를 정렬하는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5C36D-8227-4F41-9E25-D74DB1E0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552700" cy="35814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A5231-4C7E-47B2-8FA6-447D3E04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635F"/>
                </a:solidFill>
              </a:defRPr>
            </a:pPr>
            <a:r>
              <a:rPr sz="1275" b="1">
                <a:solidFill>
                  <a:srgbClr val="66635F"/>
                </a:solidFill>
              </a:rPr>
              <a:t>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93896-E6B9-4494-A360-A39A18CC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321"/>
                </a:solidFill>
              </a:defRPr>
            </a:pPr>
            <a:r>
              <a:rPr sz="2250" b="1">
                <a:solidFill>
                  <a:srgbClr val="262321"/>
                </a:solidFill>
              </a:rPr>
              <a:t>736 / 1,009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92EE1-AF20-4CFD-9B6E-1C75E9D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66635F"/>
                </a:solidFill>
              </a:defRPr>
            </a:pPr>
            <a:r>
              <a:rPr sz="1388" b="1">
                <a:solidFill>
                  <a:srgbClr val="66635F"/>
                </a:solidFill>
              </a:rPr>
              <a:t>전체 구조화 시장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A70DB-38E4-47C8-B52E-C89B3353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MLB/MiLB/roster 기반으로 모델 입력 가능한 후보 pool 구성.</a:t>
            </a:r>
          </a:p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추천이 아니라 분석 가능한 시장 구축.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95D2B-735C-4AF5-9793-339E56F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2552700" cy="35814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EDD25-6F83-41F3-BCA8-E6AF5428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635F"/>
                </a:solidFill>
              </a:defRPr>
            </a:pPr>
            <a:r>
              <a:rPr sz="1275" b="1">
                <a:solidFill>
                  <a:srgbClr val="66635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74AED-B7AC-4833-83E8-2270A08C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321"/>
                </a:solidFill>
              </a:defRPr>
            </a:pPr>
            <a:r>
              <a:rPr sz="2250" b="1">
                <a:solidFill>
                  <a:srgbClr val="262321"/>
                </a:solidFill>
              </a:rPr>
              <a:t>16 / 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48B18-7288-4969-A794-4BD9605F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66635F"/>
                </a:solidFill>
              </a:defRPr>
            </a:pPr>
            <a:r>
              <a:rPr sz="1388" b="1">
                <a:solidFill>
                  <a:srgbClr val="66635F"/>
                </a:solidFill>
              </a:rPr>
              <a:t>후보 생성 모듈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D52CC-577F-424D-8F77-432CD05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Market, Team Fit, Upside, Translation screen 중 하나 이상에서 강한 신호.</a:t>
            </a:r>
          </a:p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OR-screen: 넓게 건져 올림.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1485F-C736-42FF-BA0D-AFE4CA8D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552700" cy="35814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B22A5-FE11-4FF8-8D6C-3A8F0C1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635F"/>
                </a:solidFill>
              </a:defRPr>
            </a:pPr>
            <a:r>
              <a:rPr sz="1275" b="1">
                <a:solidFill>
                  <a:srgbClr val="66635F"/>
                </a:solidFill>
              </a:rPr>
              <a:t>Step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56983-489C-49D7-9519-DE3734D1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321"/>
                </a:solidFill>
              </a:defRPr>
            </a:pPr>
            <a:r>
              <a:rPr sz="2250" b="1">
                <a:solidFill>
                  <a:srgbClr val="262321"/>
                </a:solidFill>
              </a:rPr>
              <a:t>6 /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E7F6F-07A2-46AE-A1FA-51F8331B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66635F"/>
                </a:solidFill>
              </a:defRPr>
            </a:pPr>
            <a:r>
              <a:rPr sz="1388" b="1">
                <a:solidFill>
                  <a:srgbClr val="66635F"/>
                </a:solidFill>
              </a:rPr>
              <a:t>1차 검증 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A156F-1767-471E-B534-B5C9ABF8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표본, 포지션/역할, 40-man/계약, salary, medical, 데이터 결측을 동시에 확인.</a:t>
            </a:r>
          </a:p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AND-gate: 검증된 후보만 남김.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66E1C-F193-4B22-A543-11F79C10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2552700" cy="35814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69A4D-786C-4230-9B06-F051D7F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635F"/>
                </a:solidFill>
              </a:defRPr>
            </a:pPr>
            <a:r>
              <a:rPr sz="1275" b="1">
                <a:solidFill>
                  <a:srgbClr val="66635F"/>
                </a:solidFill>
              </a:rPr>
              <a:t>Step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ABF8D-020C-4735-92E9-26D27583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2321"/>
                </a:solidFill>
              </a:defRPr>
            </a:pPr>
            <a:r>
              <a:rPr sz="2250" b="1">
                <a:solidFill>
                  <a:srgbClr val="262321"/>
                </a:solidFill>
              </a:rPr>
              <a:t>Top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F640B-D905-455D-B9FD-91E89E6C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66635F"/>
                </a:solidFill>
              </a:defRPr>
            </a:pPr>
            <a:r>
              <a:rPr sz="1388" b="1">
                <a:solidFill>
                  <a:srgbClr val="66635F"/>
                </a:solidFill>
              </a:rPr>
              <a:t>Raw Ranking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21810-8935-4536-AFF9-05008D7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910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SSG Need Fit, KBO Translation, Archetype, Failure Resilience, Consensus 기반.</a:t>
            </a:r>
          </a:p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데이터상 좋아 보이는 후보.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60AE8-CD36-407D-847C-78ABACF2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381250"/>
            <a:ext cx="2552700" cy="35814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6E7EA"/>
          </a:solidFill>
          <a:ln xmlns:a="http://schemas.openxmlformats.org/drawingml/2006/main" w="9525">
            <a:solidFill>
              <a:srgbClr val="C915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4349C-128E-4318-855F-F35CD9B4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62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635F"/>
                </a:solidFill>
              </a:defRPr>
            </a:pPr>
            <a:r>
              <a:rPr sz="1275" b="1">
                <a:solidFill>
                  <a:srgbClr val="66635F"/>
                </a:solidFill>
              </a:rPr>
              <a:t>Step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479BB-379A-4655-B0E5-F5F4F875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143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0E1A"/>
                </a:solidFill>
              </a:defRPr>
            </a:pPr>
            <a:r>
              <a:rPr sz="2250" b="1">
                <a:solidFill>
                  <a:srgbClr val="8C0E1A"/>
                </a:solidFill>
              </a:rPr>
              <a:t>Top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AA897-ED77-43F9-B1EF-EE96E66C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638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88" b="1">
                <a:solidFill>
                  <a:srgbClr val="66635F"/>
                </a:solidFill>
              </a:defRPr>
            </a:pPr>
            <a:r>
              <a:rPr sz="1388" b="1">
                <a:solidFill>
                  <a:srgbClr val="66635F"/>
                </a:solidFill>
              </a:rPr>
              <a:t>Final Ranking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73637-C685-4A24-8731-08D47728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1910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40-man, DFA/outright, 연봉, 계약, 의료, role acceptance, KBO행 가능성을 반영.</a:t>
            </a:r>
          </a:p>
          <a:p xmlns:a="http://schemas.openxmlformats.org/drawingml/2006/main">
            <a:pPr>
              <a:defRPr sz="1035" b="0">
                <a:solidFill>
                  <a:srgbClr val="262321"/>
                </a:solidFill>
              </a:defRPr>
            </a:pPr>
            <a:r>
              <a:rPr sz="1035" b="0">
                <a:solidFill>
                  <a:srgbClr val="262321"/>
                </a:solidFill>
              </a:rPr>
              <a:t>실제 접촉 가능한 후보.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E31F0-F3C5-4267-AFB4-78836FF7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53250"/>
            <a:ext cx="1257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0E1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58D73-FC7E-4D33-9351-361721DE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115175"/>
            <a:ext cx="1223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0E1A"/>
                </a:solidFill>
              </a:defRPr>
            </a:pPr>
            <a:r>
              <a:rPr sz="1575" b="1">
                <a:solidFill>
                  <a:srgbClr val="8C0E1A"/>
                </a:solidFill>
              </a:rPr>
              <a:t>발표 포인트: Step 1~3은 pool을 줄이는 mining process, Step 4~5는 raw score와 실행 가능성을 나눠 정렬하는 decision process다.</a:t>
            </a:r>
          </a:p>
        </p:txBody>
      </p:sp>
    </p:spTree>
    <p:extLst>
      <p:ext uri="{BB962C8B-B14F-4D97-AF65-F5344CB8AC3E}">
        <p14:creationId xmlns:p14="http://schemas.microsoft.com/office/powerpoint/2010/main" val="1787362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808738-B4AA-44C5-BECB-22997D92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2321"/>
                </a:solidFill>
              </a:defRPr>
            </a:pPr>
            <a:r>
              <a:rPr sz="3300" b="1">
                <a:solidFill>
                  <a:srgbClr val="262321"/>
                </a:solidFill>
              </a:rPr>
              <a:t>Step 2와 Step 3은 무엇이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5D2C2-FA48-48A0-951F-3CF1647F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DADB1-0E82-45EC-BE7E-272AE34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162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35F"/>
                </a:solidFill>
              </a:defRPr>
            </a:pPr>
            <a:r>
              <a:rPr sz="1650" b="0">
                <a:solidFill>
                  <a:srgbClr val="66635F"/>
                </a:solidFill>
              </a:rPr>
              <a:t>Step 2는 가능성을 넓게 보는 OR-screen, Step 3은 발표 가능한 후보만 남기는 AND-gate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84484-758A-45D3-AD1F-C700543E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53415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3A6FE-98FA-4516-9F0D-94CD42C5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0E1A"/>
                </a:solidFill>
              </a:defRPr>
            </a:pPr>
            <a:r>
              <a:rPr sz="1875" b="1">
                <a:solidFill>
                  <a:srgbClr val="8C0E1A"/>
                </a:solidFill>
              </a:rPr>
              <a:t>Step 2 Candidate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C04B5-84FB-4FC7-950B-D99440FC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561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목적: 넓게 후보 발굴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방식: OR-screen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기준: 하나 이상의 모듈에서 강한 신호가 있으면 후보 board 포함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결과: 타자 16명, 투수 18명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해석: 찾아낸 후보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3CBB8-6719-4598-AB96-ECC96460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23" b="0">
                <a:solidFill>
                  <a:srgbClr val="66635F"/>
                </a:solidFill>
              </a:defRPr>
            </a:pPr>
            <a:r>
              <a:rPr sz="1223" b="0">
                <a:solidFill>
                  <a:srgbClr val="66635F"/>
                </a:solidFill>
              </a:rPr>
              <a:t>타자 예시: RHP 상대 출루/장타, contact floor, OF/DH 가능성, 낮은 run-kill risk, 시장 비효율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23" b="0">
                <a:solidFill>
                  <a:srgbClr val="66635F"/>
                </a:solidFill>
              </a:defRPr>
            </a:pPr>
            <a:r>
              <a:rPr sz="1223" b="0">
                <a:solidFill>
                  <a:srgbClr val="66635F"/>
                </a:solidFill>
              </a:rPr>
              <a:t>투수 예시: starter floor, low BB9, low HR9, traffic command, multi-inning 가능성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A7C85-0810-4A07-B7E1-079B15DF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653415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42EC9-62D4-4DF2-B5C1-FD6489D1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5C73"/>
                </a:solidFill>
              </a:defRPr>
            </a:pPr>
            <a:r>
              <a:rPr sz="1875" b="1">
                <a:solidFill>
                  <a:srgbClr val="245C73"/>
                </a:solidFill>
              </a:rPr>
              <a:t>Step 3 Basic Data-Mining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EB5F1-6747-49F0-8D02-CDA7E74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561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목적: 모델 비교 가능한 후보만 남김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방식: AND-gate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기준: 핵심 조건을 동시에 통과해야 함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결과: 타자 6명, 투수 3명</a:t>
            </a:r>
          </a:p>
          <a:p xmlns:a="http://schemas.openxmlformats.org/drawingml/2006/main">
            <a:pPr>
              <a:defRPr sz="1290" b="0">
                <a:solidFill>
                  <a:srgbClr val="262321"/>
                </a:solidFill>
              </a:defRPr>
            </a:pPr>
            <a:r>
              <a:rPr sz="1290" b="0">
                <a:solidFill>
                  <a:srgbClr val="262321"/>
                </a:solidFill>
              </a:rPr>
              <a:t>해석: 검증을 통과한 후보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7943A-7405-4DD7-B35B-8241673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23" b="0">
                <a:solidFill>
                  <a:srgbClr val="66635F"/>
                </a:solidFill>
              </a:defRPr>
            </a:pPr>
            <a:r>
              <a:rPr sz="1223" b="0">
                <a:solidFill>
                  <a:srgbClr val="66635F"/>
                </a:solidFill>
              </a:rPr>
              <a:t>검증 항목: 표본 신뢰도, 포지션/역할 적합성, 시장 접근성, 40-man/계약 상태, salary/contract signal, medical risk, 데이터 결측, 신원 매칭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4B566-E2E4-4415-912C-4BCF6FFC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3868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5EE48-189F-4060-BB91-33DFD8E7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19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C0E1A"/>
                </a:solidFill>
              </a:defRPr>
            </a:pPr>
            <a:r>
              <a:rPr sz="1725" b="1">
                <a:solidFill>
                  <a:srgbClr val="8C0E1A"/>
                </a:solidFill>
              </a:rPr>
              <a:t>왜 타자는 6명, 투수는 3명인가?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4C277-50E4-44B0-82FB-7390E016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008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55" b="0">
                <a:solidFill>
                  <a:srgbClr val="262321"/>
                </a:solidFill>
              </a:defRPr>
            </a:pPr>
            <a:r>
              <a:rPr sz="1155" b="0">
                <a:solidFill>
                  <a:srgbClr val="262321"/>
                </a:solidFill>
              </a:rPr>
              <a:t>타자: historical KBO hitter classifier가 success AUC 0.833 / failure AUC 0.738로 의미 있는 신호를 보였고, Savant 기반 OF/DH feature가 비교적 안정적이었다.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D90E4-8F66-4275-B51B-D0183C4E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800850"/>
            <a:ext cx="653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55" b="0">
                <a:solidFill>
                  <a:srgbClr val="262321"/>
                </a:solidFill>
              </a:defRPr>
            </a:pPr>
            <a:r>
              <a:rPr sz="1155" b="0">
                <a:solidFill>
                  <a:srgbClr val="262321"/>
                </a:solidFill>
              </a:rPr>
              <a:t>투수: classifier AUC 0.603으로 diagnostic 수준이고, 수비·포수·구장·역할 이질성 영향이 커서 starter floor, BB9, HR9, workload, market/medical gate를 더 보수적으로 적용했다.</a:t>
            </a:r>
          </a:p>
        </p:txBody>
      </p:sp>
    </p:spTree>
    <p:extLst>
      <p:ext uri="{BB962C8B-B14F-4D97-AF65-F5344CB8AC3E}">
        <p14:creationId xmlns:p14="http://schemas.microsoft.com/office/powerpoint/2010/main" val="1245769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5E7B6-5524-4BBC-9273-42E91A6F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2321"/>
                </a:solidFill>
              </a:defRPr>
            </a:pPr>
            <a:r>
              <a:rPr sz="3300" b="1">
                <a:solidFill>
                  <a:srgbClr val="262321"/>
                </a:solidFill>
              </a:rPr>
              <a:t>Raw Ranking과 Final Ranking은 왜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F37ED-5EFB-43A5-B445-AE63FAAC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97973-E748-4CC8-B4D9-2A9B8293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162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35F"/>
                </a:solidFill>
              </a:defRPr>
            </a:pPr>
            <a:r>
              <a:rPr sz="1650" b="0">
                <a:solidFill>
                  <a:srgbClr val="66635F"/>
                </a:solidFill>
              </a:rPr>
              <a:t>Raw는 데이터상 우수 후보, Final은 실제 영입 가능한 후보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C9CC6-3E33-442F-9882-65BD941D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9052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CCFF1-5BBA-4ACD-8538-75B512CF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C0E1A"/>
                </a:solidFill>
              </a:defRPr>
            </a:pPr>
            <a:r>
              <a:rPr sz="2100" b="1">
                <a:solidFill>
                  <a:srgbClr val="8C0E1A"/>
                </a:solidFill>
              </a:rPr>
              <a:t>Raw Ranking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F7A67-0D79-4C39-9277-A34ADB1F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순수 모델 점수와 cross-model consistency 기반</a:t>
            </a:r>
          </a:p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SSG Need, KBO Translation, Archetype, Failure Risk 반영</a:t>
            </a:r>
          </a:p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= 데이터상 좋아 보이는 후보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3139E-1B98-46F4-AAB0-C51DB1E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6635F"/>
                </a:solidFill>
              </a:defRPr>
            </a:pPr>
            <a:r>
              <a:rPr sz="3150" b="1">
                <a:solidFill>
                  <a:srgbClr val="66635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2BA7D-522A-40C4-BE37-0E363C0E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9800"/>
            <a:ext cx="39052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9DBAA-76C0-4A6D-B8BC-1F468C02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38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2321"/>
                </a:solidFill>
              </a:defRPr>
            </a:pPr>
            <a:r>
              <a:rPr sz="2100" b="1">
                <a:solidFill>
                  <a:srgbClr val="262321"/>
                </a:solidFill>
              </a:rPr>
              <a:t>Execution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999FC-1615-43C7-B585-6646D39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40-man, DFA/outright, minor contract,</a:t>
            </a:r>
          </a:p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salary/contract, medical, role acceptance,</a:t>
            </a:r>
          </a:p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KBO행 가능성, 즉시 전력 가능성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66DD1-BE5C-4D07-9E79-A20AC02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860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6635F"/>
                </a:solidFill>
              </a:defRPr>
            </a:pPr>
            <a:r>
              <a:rPr sz="3150" b="1">
                <a:solidFill>
                  <a:srgbClr val="66635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11481-C0E3-43BA-939C-CF74C9EE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09800"/>
            <a:ext cx="39052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6E7EA"/>
          </a:solidFill>
          <a:ln xmlns:a="http://schemas.openxmlformats.org/drawingml/2006/main" w="9525">
            <a:solidFill>
              <a:srgbClr val="C915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3705A-31F9-461C-A170-7A48AE3E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38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C0E1A"/>
                </a:solidFill>
              </a:defRPr>
            </a:pPr>
            <a:r>
              <a:rPr sz="2100" b="1">
                <a:solidFill>
                  <a:srgbClr val="8C0E1A"/>
                </a:solidFill>
              </a:rPr>
              <a:t>Final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25390-1F0A-4536-A886-DC0916BA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146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모델 점수에 프런트 현실성 검증을 더한 최종 접촉 순위</a:t>
            </a:r>
          </a:p>
          <a:p xmlns:a="http://schemas.openxmlformats.org/drawingml/2006/main">
            <a:pPr>
              <a:defRPr sz="1177" b="0">
                <a:solidFill>
                  <a:srgbClr val="262321"/>
                </a:solidFill>
              </a:defRPr>
            </a:pPr>
            <a:r>
              <a:rPr sz="1177" b="0">
                <a:solidFill>
                  <a:srgbClr val="262321"/>
                </a:solidFill>
              </a:rPr>
              <a:t>= 실제로 데려올 수 있는 후보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9657B-B480-4452-B91E-AB0E40E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62293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0648C-F0F0-4EAE-825F-B9AE3CD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C0E1A"/>
                </a:solidFill>
              </a:defRPr>
            </a:pPr>
            <a:r>
              <a:rPr sz="1725" b="1">
                <a:solidFill>
                  <a:srgbClr val="8C0E1A"/>
                </a:solidFill>
              </a:rPr>
              <a:t>Unified Fit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351F4-5C73-4C0F-931C-F17C0099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62321"/>
                </a:solidFill>
              </a:defRPr>
            </a:pPr>
            <a:r>
              <a:rPr sz="1275" b="0">
                <a:solidFill>
                  <a:srgbClr val="262321"/>
                </a:solidFill>
              </a:rPr>
              <a:t>weighted feature-block score + role/position adjustment + sample adjustment + age adjustment - categorical risk penalty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98F08-F40E-44BB-BEED-15BC8C5B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541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10" b="0">
                <a:solidFill>
                  <a:srgbClr val="66635F"/>
                </a:solidFill>
              </a:defRPr>
            </a:pPr>
            <a:r>
              <a:rPr sz="1110" b="0">
                <a:solidFill>
                  <a:srgbClr val="66635F"/>
                </a:solidFill>
              </a:rPr>
              <a:t>외인타자: Need 0.34 · Translation 0.24 · Market 0.15 · Tool 0.08 · Surplus 0.09 · Failure 0.10</a:t>
            </a:r>
          </a:p>
          <a:p xmlns:a="http://schemas.openxmlformats.org/drawingml/2006/main">
            <a:pPr>
              <a:defRPr sz="1110" b="0">
                <a:solidFill>
                  <a:srgbClr val="66635F"/>
                </a:solidFill>
              </a:defRPr>
            </a:pPr>
            <a:r>
              <a:rPr sz="1110" b="0">
                <a:solidFill>
                  <a:srgbClr val="66635F"/>
                </a:solidFill>
              </a:rPr>
              <a:t>외인투수: Need 0.32 · Translation 0.22 · Market 0.17 · Tool 0.09 · Surplus 0.10 · Failure 0.10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EF2CD-A376-4C4A-9997-D742AF9C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76700"/>
            <a:ext cx="70104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9525">
            <a:solidFill>
              <a:srgbClr val="D9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B0690-598A-48F7-A092-5FCD190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5C73"/>
                </a:solidFill>
              </a:defRPr>
            </a:pPr>
            <a:r>
              <a:rPr sz="1725" b="1">
                <a:solidFill>
                  <a:srgbClr val="245C73"/>
                </a:solidFill>
              </a:rPr>
              <a:t>왜 순위가 바뀌나?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3C3F3-F906-441E-B12B-3457D6D5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615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2321"/>
                </a:solidFill>
              </a:defRPr>
            </a:pPr>
            <a:r>
              <a:rPr sz="1200" b="0">
                <a:solidFill>
                  <a:srgbClr val="262321"/>
                </a:solidFill>
              </a:rPr>
              <a:t>Raw 점수가 높아도 40-man blocked면 HOLD</a:t>
            </a:r>
          </a:p>
          <a:p xmlns:a="http://schemas.openxmlformats.org/drawingml/2006/main">
            <a:pPr>
              <a:defRPr sz="1200" b="0">
                <a:solidFill>
                  <a:srgbClr val="262321"/>
                </a:solidFill>
              </a:defRPr>
            </a:pPr>
            <a:r>
              <a:rPr sz="1200" b="0">
                <a:solidFill>
                  <a:srgbClr val="262321"/>
                </a:solidFill>
              </a:rPr>
              <a:t>너무 젊고 MLB 가치가 높으면 HOLD</a:t>
            </a:r>
          </a:p>
          <a:p xmlns:a="http://schemas.openxmlformats.org/drawingml/2006/main">
            <a:pPr>
              <a:defRPr sz="1200" b="0">
                <a:solidFill>
                  <a:srgbClr val="262321"/>
                </a:solidFill>
              </a:defRPr>
            </a:pPr>
            <a:r>
              <a:rPr sz="1200" b="0">
                <a:solidFill>
                  <a:srgbClr val="262321"/>
                </a:solidFill>
              </a:rPr>
              <a:t>medical risk가 크면 WATCH 또는 RED</a:t>
            </a:r>
          </a:p>
          <a:p xmlns:a="http://schemas.openxmlformats.org/drawingml/2006/main">
            <a:pPr>
              <a:defRPr sz="1200" b="0">
                <a:solidFill>
                  <a:srgbClr val="262321"/>
                </a:solidFill>
              </a:defRPr>
            </a:pPr>
            <a:r>
              <a:rPr sz="1200" b="0">
                <a:solidFill>
                  <a:srgbClr val="262321"/>
                </a:solidFill>
              </a:rPr>
              <a:t>Raw 점수가 중간이어도 DFA/outright + SSG fit 강하면 CONTACT 상승</a:t>
            </a:r>
          </a:p>
          <a:p xmlns:a="http://schemas.openxmlformats.org/drawingml/2006/main">
            <a:pPr>
              <a:defRPr sz="1200" b="0">
                <a:solidFill>
                  <a:srgbClr val="262321"/>
                </a:solidFill>
              </a:defRPr>
            </a:pPr>
            <a:r>
              <a:rPr sz="1200" b="0">
                <a:solidFill>
                  <a:srgbClr val="262321"/>
                </a:solidFill>
              </a:rPr>
              <a:t>투수는 raw score보다 starter floor, command, BB/HR 억제, workload를 더 강하게 본다.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5919D-1321-41C4-8F67-83E6BF67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13773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15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EE439-CFCF-49AD-80A2-44E5630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0E1A"/>
                </a:solidFill>
              </a:defRPr>
            </a:pPr>
            <a:r>
              <a:rPr sz="1650" b="1">
                <a:solidFill>
                  <a:srgbClr val="8C0E1A"/>
                </a:solidFill>
              </a:rPr>
              <a:t>방어 문장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87546-758E-42EF-A93C-1B456318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6103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05" b="0">
                <a:solidFill>
                  <a:srgbClr val="262321"/>
                </a:solidFill>
              </a:defRPr>
            </a:pPr>
            <a:r>
              <a:rPr sz="1305" b="0">
                <a:solidFill>
                  <a:srgbClr val="262321"/>
                </a:solidFill>
              </a:rPr>
              <a:t>Raw 1위가 Final 1위가 아닐 수 있는 이유는 모델이 틀려서가 아니라, 실제 영입에서는 계약·연봉·의료·로스터 접근성이 hard gate로 작동하기 때문이다. 후보 feature에는 KBO 입단 후 성과를 넣지 않아 leakage를 방지했다.</a:t>
            </a:r>
          </a:p>
        </p:txBody>
      </p:sp>
    </p:spTree>
    <p:extLst>
      <p:ext uri="{BB962C8B-B14F-4D97-AF65-F5344CB8AC3E}">
        <p14:creationId xmlns:p14="http://schemas.microsoft.com/office/powerpoint/2010/main" val="457089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2026-06-23T18:33:43.8060000Z</dcterms:created>
  <dcterms:modified xsi:type="dcterms:W3CDTF">2026-06-23T18:33:43.8060000Z</dcterms:modified>
</coreProperties>
</file>